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4F46E5">
              <a:alpha val="12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011680"/>
            <a:ext cx="3200400" cy="3200400"/>
          </a:xfrm>
          <a:prstGeom prst="ellipse">
            <a:avLst/>
          </a:prstGeom>
          <a:solidFill>
            <a:srgbClr val="0891B2">
              <a:alpha val="1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REQUIREMENTS DOCUMENT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7772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Ticket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Auto-Resolution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3200400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977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Incident Detection · Human-in-the-Loop Control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  |   June 2026   |   Milestone Internet Marketing   |   DRAFT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State is Broken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697480" cy="3200400"/>
          </a:xfrm>
          <a:prstGeom prst="rect">
            <a:avLst/>
          </a:prstGeom>
          <a:solidFill>
            <a:srgbClr val="FEE2E2"/>
          </a:solidFill>
          <a:ln w="25400">
            <a:solidFill>
              <a:srgbClr val="DC262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269748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2588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Days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20040" y="239572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Time to Resolution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2926080"/>
            <a:ext cx="1965960" cy="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30175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across all ticket types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097280"/>
            <a:ext cx="2697480" cy="3200400"/>
          </a:xfrm>
          <a:prstGeom prst="rect">
            <a:avLst/>
          </a:prstGeom>
          <a:solidFill>
            <a:srgbClr val="FFFBEB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097280"/>
            <a:ext cx="269748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32588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3246120" y="239572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Abandon Rate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11880" y="2926080"/>
            <a:ext cx="1965960" cy="0"/>
          </a:xfrm>
          <a:prstGeom prst="line">
            <a:avLst/>
          </a:prstGeom>
          <a:noFill/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30175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up on docs within 3 min (Forrester)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72200" y="1097280"/>
            <a:ext cx="2697480" cy="3200400"/>
          </a:xfrm>
          <a:prstGeom prst="rect">
            <a:avLst/>
          </a:prstGeom>
          <a:solidFill>
            <a:srgbClr val="F5F3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1097280"/>
            <a:ext cx="269748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32588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</a:t>
            </a:r>
            <a:endParaRPr lang="en-US" sz="5200" dirty="0"/>
          </a:p>
        </p:txBody>
      </p:sp>
      <p:sp>
        <p:nvSpPr>
          <p:cNvPr id="20" name="Text 18"/>
          <p:cNvSpPr/>
          <p:nvPr/>
        </p:nvSpPr>
        <p:spPr>
          <a:xfrm>
            <a:off x="6172200" y="239572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Manual Ticket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37960" y="2926080"/>
            <a:ext cx="196596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30175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loaded CS + Eng cost (HDI)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4434840"/>
            <a:ext cx="8503920" cy="475488"/>
          </a:xfrm>
          <a:prstGeom prst="rect">
            <a:avLst/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43484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of all tickets are repeat known issues · 28% of Eng escalations are user errors · 40% of CS time spent on solvable problems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Every Ticket Gets Resolved Today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1508760" cy="1691640"/>
          </a:xfrm>
          <a:prstGeom prst="rect">
            <a:avLst/>
          </a:prstGeom>
          <a:solidFill>
            <a:srgbClr val="F1F5F9"/>
          </a:solidFill>
          <a:ln w="25400">
            <a:solidFill>
              <a:srgbClr val="94A3B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43000"/>
            <a:ext cx="1508760" cy="640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4380" y="1298448"/>
            <a:ext cx="457200" cy="45720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4380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8600" y="184708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Hits Issue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" y="245059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Tries docs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 → gives up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737360" y="1865376"/>
            <a:ext cx="228600" cy="640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01952" y="1801368"/>
            <a:ext cx="64008" cy="2011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65960" y="1143000"/>
            <a:ext cx="1508760" cy="1691640"/>
          </a:xfrm>
          <a:prstGeom prst="rect">
            <a:avLst/>
          </a:prstGeom>
          <a:solidFill>
            <a:srgbClr val="FFFBEB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965960" y="1143000"/>
            <a:ext cx="150876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91740" y="1298448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91740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965960" y="184708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65960" y="245059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context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classification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74720" y="1865376"/>
            <a:ext cx="228600" cy="640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39312" y="1801368"/>
            <a:ext cx="64008" cy="2011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03320" y="1143000"/>
            <a:ext cx="1508760" cy="1691640"/>
          </a:xfrm>
          <a:prstGeom prst="rect">
            <a:avLst/>
          </a:prstGeom>
          <a:solidFill>
            <a:srgbClr val="F5F3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03320" y="1143000"/>
            <a:ext cx="150876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29100" y="1298448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29100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703320" y="184708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Team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703320" y="245059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 min/ticket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212080" y="1865376"/>
            <a:ext cx="228600" cy="640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76672" y="1801368"/>
            <a:ext cx="64008" cy="2011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40680" y="1143000"/>
            <a:ext cx="1508760" cy="1691640"/>
          </a:xfrm>
          <a:prstGeom prst="rect">
            <a:avLst/>
          </a:prstGeom>
          <a:solidFill>
            <a:srgbClr val="FEE2E2"/>
          </a:solidFill>
          <a:ln w="25400">
            <a:solidFill>
              <a:srgbClr val="DC262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40680" y="1143000"/>
            <a:ext cx="150876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66460" y="1298448"/>
            <a:ext cx="457200" cy="4572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66460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40680" y="184708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40680" y="245059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missing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 = user error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949440" y="1865376"/>
            <a:ext cx="228600" cy="640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14032" y="1801368"/>
            <a:ext cx="64008" cy="2011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178040" y="1143000"/>
            <a:ext cx="1508760" cy="1691640"/>
          </a:xfrm>
          <a:prstGeom prst="rect">
            <a:avLst/>
          </a:prstGeom>
          <a:solidFill>
            <a:srgbClr val="ECFDF5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178040" y="1143000"/>
            <a:ext cx="150876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03820" y="1298448"/>
            <a:ext cx="457200" cy="4572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03820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178040" y="184708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178040" y="245059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days later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 spent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982980" y="2852928"/>
            <a:ext cx="0" cy="320040"/>
          </a:xfrm>
          <a:prstGeom prst="line">
            <a:avLst/>
          </a:prstGeom>
          <a:noFill/>
          <a:ln w="12700">
            <a:solidFill>
              <a:srgbClr val="DC2626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228600" y="3172968"/>
            <a:ext cx="1508760" cy="68580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8600" y="3172968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 abandon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docs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20340" y="2852928"/>
            <a:ext cx="0" cy="320040"/>
          </a:xfrm>
          <a:prstGeom prst="line">
            <a:avLst/>
          </a:prstGeom>
          <a:noFill/>
          <a:ln w="12700">
            <a:solidFill>
              <a:srgbClr val="DC2626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1965960" y="3172968"/>
            <a:ext cx="1508760" cy="68580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65960" y="3172968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8–12 min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write ticket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457700" y="2852928"/>
            <a:ext cx="0" cy="320040"/>
          </a:xfrm>
          <a:prstGeom prst="line">
            <a:avLst/>
          </a:prstGeom>
          <a:noFill/>
          <a:ln w="12700">
            <a:solidFill>
              <a:srgbClr val="DC2626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3703320" y="3172968"/>
            <a:ext cx="1508760" cy="68580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703320" y="3172968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of CS time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repeat issues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195060" y="2852928"/>
            <a:ext cx="0" cy="320040"/>
          </a:xfrm>
          <a:prstGeom prst="line">
            <a:avLst/>
          </a:prstGeom>
          <a:noFill/>
          <a:ln w="12700">
            <a:solidFill>
              <a:srgbClr val="DC2626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5440680" y="3172968"/>
            <a:ext cx="1508760" cy="68580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40680" y="3172968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3hrs + $525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escalation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932420" y="2852928"/>
            <a:ext cx="0" cy="320040"/>
          </a:xfrm>
          <a:prstGeom prst="line">
            <a:avLst/>
          </a:prstGeom>
          <a:noFill/>
          <a:ln w="12700">
            <a:solidFill>
              <a:srgbClr val="DC2626"/>
            </a:solidFill>
            <a:prstDash val="dash"/>
          </a:ln>
        </p:spPr>
      </p:sp>
      <p:sp>
        <p:nvSpPr>
          <p:cNvPr id="56" name="Shape 54"/>
          <p:cNvSpPr/>
          <p:nvPr/>
        </p:nvSpPr>
        <p:spPr>
          <a:xfrm>
            <a:off x="7178040" y="3172968"/>
            <a:ext cx="1508760" cy="68580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178040" y="3172968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CSAT: 52%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3+ day issues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228600" y="3977640"/>
            <a:ext cx="8686800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28600" y="397764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journey cost: $22–35 per ticket · $175/hr engineering time · 2-week SLA exceeded for every issue regardless of complexity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WE'RE SOLVING FOR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Users, One Broken System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6032" y="1051560"/>
            <a:ext cx="2697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51560"/>
            <a:ext cx="2697480" cy="10515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07899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6032" y="129844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56032" y="173736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Manager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2103120"/>
            <a:ext cx="2697480" cy="822960"/>
          </a:xfrm>
          <a:prstGeom prst="rect">
            <a:avLst/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21031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56032" y="26060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/ month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" y="299923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just need this fixed. I don't have time to read a 40-page doc."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685032"/>
            <a:ext cx="128016" cy="12801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6576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don't match her error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4032504"/>
            <a:ext cx="128016" cy="12801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0050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resolution wait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4379976"/>
            <a:ext cx="128016" cy="12801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3525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status visibility after submit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63824" y="1051560"/>
            <a:ext cx="2697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63824" y="1051560"/>
            <a:ext cx="2697480" cy="10515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55264" y="107899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TEAM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163824" y="129844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163824" y="173736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Manager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63824" y="2103120"/>
            <a:ext cx="2697480" cy="822960"/>
          </a:xfrm>
          <a:prstGeom prst="rect">
            <a:avLst/>
          </a:prstGeom>
          <a:solidFill>
            <a:srgbClr val="E0F7F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63824" y="21031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3163824" y="26060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on repeat issues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55264" y="299923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"Half my queue is the same 5 issues. I could fix those in my sleep."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73552" y="3685032"/>
            <a:ext cx="128016" cy="12801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56432" y="36576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ticket starts from scratch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73552" y="4032504"/>
            <a:ext cx="128016" cy="12801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56432" y="40050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AI-assist on obvious fixes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73552" y="4379976"/>
            <a:ext cx="128016" cy="12801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56432" y="43525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routing wastes 18% of time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071616" y="1051560"/>
            <a:ext cx="2697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71616" y="1051560"/>
            <a:ext cx="2697480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63056" y="107899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TEAM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071616" y="129844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Team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071616" y="173736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Product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071616" y="2103120"/>
            <a:ext cx="2697480" cy="82296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71616" y="21031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3400" dirty="0"/>
          </a:p>
        </p:txBody>
      </p:sp>
      <p:sp>
        <p:nvSpPr>
          <p:cNvPr id="42" name="Text 40"/>
          <p:cNvSpPr/>
          <p:nvPr/>
        </p:nvSpPr>
        <p:spPr>
          <a:xfrm>
            <a:off x="6071616" y="26060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escalations = user error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163056" y="299923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keep getting pulled in for things that aren't actually bugs."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81344" y="3685032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64224" y="36576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disruption from support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181344" y="4032504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64224" y="40050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arrive with no context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181344" y="437997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64224" y="43525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$175/hr cost for user errors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4F46E5">
              <a:alpha val="15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286000"/>
            <a:ext cx="3657600" cy="3657600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Intercept. Classify.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Resolve.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layer that catches issues at the moment of reporting — before they ever land in a human queue.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Tickets Are Equal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2697480" cy="3840480"/>
          </a:xfrm>
          <a:prstGeom prst="rect">
            <a:avLst/>
          </a:prstGeom>
          <a:solidFill>
            <a:srgbClr val="ECFDF5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97280"/>
            <a:ext cx="91440" cy="3840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88720"/>
            <a:ext cx="777240" cy="2560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887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51790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Solvable Now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" y="18836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~45% of all tickets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21284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just needs a nudge — wrong setting, missed step, misunderstood feature.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761488"/>
            <a:ext cx="2423160" cy="384048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761488"/>
            <a:ext cx="24231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Dashboard not loading after cache issue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321868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→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343814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self-serves in chat → 0 human touch → auto-close after customer confirms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39776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SLA: &lt; 15 min  ·  Cost: ~$0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72968" y="1097280"/>
            <a:ext cx="2697480" cy="3840480"/>
          </a:xfrm>
          <a:prstGeom prst="rect">
            <a:avLst/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72968" y="1097280"/>
            <a:ext cx="91440" cy="3840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10128" y="1188720"/>
            <a:ext cx="77724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0128" y="11887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10128" y="151790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Issue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310128" y="18836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~35% of all tickets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10128" y="221284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in the backlog. The fix will take time, but a workaround exists.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10128" y="2761488"/>
            <a:ext cx="2423160" cy="384048"/>
          </a:xfrm>
          <a:prstGeom prst="rect">
            <a:avLst/>
          </a:prstGeom>
          <a:solidFill>
            <a:srgbClr val="FEF9C3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0128" y="2761488"/>
            <a:ext cx="24231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Analytics dashboard render bug on v2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10128" y="321868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→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10128" y="343814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acknowledges + delivers workaround + ETA from KB → CS reviews before sending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10128" y="39776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SLA: &lt; 2 hrs  ·  Cost: ~$5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17336" y="1097280"/>
            <a:ext cx="2697480" cy="384048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17336" y="1097280"/>
            <a:ext cx="91440" cy="3840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54496" y="1188720"/>
            <a:ext cx="777240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54496" y="11887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54496" y="151790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Issue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254496" y="18836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 of all tickets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54496" y="221284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occurrence. Requires investigation. Could be a new bug or edge case.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54496" y="2761488"/>
            <a:ext cx="2423160" cy="384048"/>
          </a:xfrm>
          <a:prstGeom prst="rect">
            <a:avLst/>
          </a:prstGeom>
          <a:solidFill>
            <a:srgbClr val="FECACA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54496" y="2761488"/>
            <a:ext cx="24231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Integration failure after customer's Salesforce update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54496" y="321868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→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54496" y="343814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classifies + proposes fix → CS approves → Eng escalates with full context if needed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254496" y="39776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SLA: &lt; 8 hrs  ·  Cost: ~$15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Self-Reinforcing Loop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10512" y="2395728"/>
            <a:ext cx="1316736" cy="1060704"/>
          </a:xfrm>
          <a:prstGeom prst="ellipse">
            <a:avLst/>
          </a:prstGeom>
          <a:solidFill>
            <a:srgbClr val="4F46E5"/>
          </a:solidFill>
          <a:ln w="25400">
            <a:solidFill>
              <a:srgbClr val="818C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10512" y="2395728"/>
            <a:ext cx="131673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Resolution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Flywheel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963814" y="1664208"/>
            <a:ext cx="237568" cy="397764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  <a:tailEnd type="arrow"/>
          </a:ln>
        </p:spPr>
      </p:sp>
      <p:sp>
        <p:nvSpPr>
          <p:cNvPr id="7" name="Shape 5"/>
          <p:cNvSpPr/>
          <p:nvPr/>
        </p:nvSpPr>
        <p:spPr>
          <a:xfrm>
            <a:off x="3696315" y="2528316"/>
            <a:ext cx="0" cy="795528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3201382" y="3790188"/>
            <a:ext cx="-237568" cy="397764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1973946" y="4187952"/>
            <a:ext cx="-237568" cy="-397764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1241445" y="3323844"/>
            <a:ext cx="0" cy="-795528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1736378" y="2061972"/>
            <a:ext cx="237568" cy="-397764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1943100" y="1243584"/>
            <a:ext cx="1051560" cy="530352"/>
          </a:xfrm>
          <a:prstGeom prst="rect">
            <a:avLst/>
          </a:prstGeom>
          <a:solidFill>
            <a:srgbClr val="3730A3"/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43100" y="1243584"/>
            <a:ext cx="105156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Tickets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93492" y="1152144"/>
            <a:ext cx="201168" cy="20116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93492" y="11521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170535" y="1952244"/>
            <a:ext cx="1051560" cy="530352"/>
          </a:xfrm>
          <a:prstGeom prst="rect">
            <a:avLst/>
          </a:prstGeom>
          <a:solidFill>
            <a:srgbClr val="075985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70535" y="1952244"/>
            <a:ext cx="105156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020927" y="1860804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0927" y="18608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170535" y="3369564"/>
            <a:ext cx="1051560" cy="530352"/>
          </a:xfrm>
          <a:prstGeom prst="rect">
            <a:avLst/>
          </a:prstGeom>
          <a:solidFill>
            <a:srgbClr val="065F46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70535" y="3369564"/>
            <a:ext cx="105156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AI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020927" y="3278124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0927" y="32781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943100" y="4078224"/>
            <a:ext cx="1051560" cy="530352"/>
          </a:xfrm>
          <a:prstGeom prst="rect">
            <a:avLst/>
          </a:prstGeom>
          <a:solidFill>
            <a:srgbClr val="92400E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43100" y="4078224"/>
            <a:ext cx="105156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93492" y="3986784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93492" y="39867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15665" y="3369564"/>
            <a:ext cx="1051560" cy="530352"/>
          </a:xfrm>
          <a:prstGeom prst="rect">
            <a:avLst/>
          </a:prstGeom>
          <a:solidFill>
            <a:srgbClr val="5B21B6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5665" y="3369564"/>
            <a:ext cx="105156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Auto-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566057" y="3278124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566057" y="32781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15665" y="1952244"/>
            <a:ext cx="1051560" cy="530352"/>
          </a:xfrm>
          <a:prstGeom prst="rect">
            <a:avLst/>
          </a:prstGeom>
          <a:solidFill>
            <a:srgbClr val="9D174D"/>
          </a:solidFill>
          <a:ln w="25400">
            <a:solidFill>
              <a:srgbClr val="BE185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5665" y="1952244"/>
            <a:ext cx="105156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Focuses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Quality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566057" y="1860804"/>
            <a:ext cx="201168" cy="201168"/>
          </a:xfrm>
          <a:prstGeom prst="ellipse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566057" y="18608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960120"/>
            <a:ext cx="420624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960120"/>
            <a:ext cx="64008" cy="5943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99669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More Tickets Resolved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00600" y="12344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closed ticket is a labeled training point — CS edits, customer confirmations, re-opens all captured.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63440" y="1645920"/>
            <a:ext cx="420624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63440" y="1645920"/>
            <a:ext cx="64008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168249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Richer Knowledge Base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00600" y="19202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Resolutions populate the KB in real time. Known issues get workarounds. New patterns get flagged.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663440" y="2331720"/>
            <a:ext cx="420624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63440" y="2331720"/>
            <a:ext cx="64008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236829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Better AI Matching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800600" y="26060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Denser KB = more accurate classification. Type 3 caught earlier; Type 1 matched to past tickets faster.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63440" y="3017520"/>
            <a:ext cx="420624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663440" y="3017520"/>
            <a:ext cx="64008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00600" y="305409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Higher Confidence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800600" y="32918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matching → AI is more certain. More tickets cross the auto-resolve threshold autonomously.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663440" y="3703320"/>
            <a:ext cx="420624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63440" y="3703320"/>
            <a:ext cx="64008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00600" y="373989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More Auto-Resolutions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800600" y="39776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Deflection rises. CS bandwidth frees up. SLA compresses from 14 days → hours for Type 2/3.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663440" y="4389120"/>
            <a:ext cx="420624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663440" y="4389120"/>
            <a:ext cx="64008" cy="594360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00600" y="442569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CS Focuses on Quality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800600" y="46634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Freed from triage, CS invests in KB curation &amp; refinement — spinning the wheel even faster.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at Every Gate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146304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972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91640" y="1097280"/>
            <a:ext cx="256032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91640" y="1097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1960" y="1097280"/>
            <a:ext cx="274320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5196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Role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995160" y="1097280"/>
            <a:ext cx="173736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95160" y="1097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Auto-Close?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1463040"/>
            <a:ext cx="1463040" cy="438912"/>
          </a:xfrm>
          <a:prstGeom prst="rect">
            <a:avLst/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1463040"/>
            <a:ext cx="64008" cy="43891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46304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691640" y="1463040"/>
            <a:ext cx="2560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91640" y="1463040"/>
            <a:ext cx="2560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Auto-resolve + send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51960" y="1463040"/>
            <a:ext cx="2743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51960" y="1463040"/>
            <a:ext cx="274320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(Type 3 only)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95160" y="1463040"/>
            <a:ext cx="1737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95160" y="1463040"/>
            <a:ext cx="173736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- after customer confirms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" y="1901952"/>
            <a:ext cx="1463040" cy="438912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" y="1901952"/>
            <a:ext cx="64008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190195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– 89%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691640" y="1901952"/>
            <a:ext cx="2560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91640" y="1901952"/>
            <a:ext cx="2560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drafts, CS approves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251960" y="1901952"/>
            <a:ext cx="2743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51960" y="1901952"/>
            <a:ext cx="274320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CS: approve or edit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995160" y="1901952"/>
            <a:ext cx="1737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95160" y="1901952"/>
            <a:ext cx="173736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- after customer confirms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28600" y="2340864"/>
            <a:ext cx="1463040" cy="438912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" y="2340864"/>
            <a:ext cx="64008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234086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– 74%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1691640" y="2340864"/>
            <a:ext cx="2560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91640" y="2340864"/>
            <a:ext cx="2560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drafts, CS rewrites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251960" y="2340864"/>
            <a:ext cx="2743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51960" y="2340864"/>
            <a:ext cx="274320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CS: full review &amp; rewrite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995160" y="2340864"/>
            <a:ext cx="1737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95160" y="2340864"/>
            <a:ext cx="173736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- CS manually closes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28600" y="2779776"/>
            <a:ext cx="146304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8600" y="2779776"/>
            <a:ext cx="64008" cy="43891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277977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50%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1691640" y="2779776"/>
            <a:ext cx="2560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691640" y="2779776"/>
            <a:ext cx="2560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suggestion shown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251960" y="2779776"/>
            <a:ext cx="2743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51960" y="2779776"/>
            <a:ext cx="274320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queue: full manual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995160" y="2779776"/>
            <a:ext cx="1737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95160" y="2779776"/>
            <a:ext cx="173736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- Eng manually closes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28600" y="33832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Human Approval Gates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228600" y="3767328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868680" y="3813048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68680" y="3813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301752" y="4224528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Approval Gate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301752" y="4498848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reviews AI draft (75–89% confidence) before customer sees it. Target: &lt; 30 min.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423160" y="3767328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3063240" y="3813048"/>
            <a:ext cx="365760" cy="3657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063240" y="3813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2496312" y="4224528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Confirms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2496312" y="4498848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does NOT close until customer confirms the fix worked. 'Still broken' reopens.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617720" y="3767328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5257800" y="3813048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257800" y="3813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4690872" y="4224528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Review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4690872" y="4498848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(Type 1) or &lt; 50% confidence auto-routes to Eng with full context pre-populated.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812280" y="3767328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7452360" y="3813048"/>
            <a:ext cx="365760" cy="3657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452360" y="3813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6885432" y="4224528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SLA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6885432" y="4498848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 tickets require Eng acknowledgment within 4 business hours. SLA auto-starts.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EXPERIENCE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User Actually Sees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078992"/>
            <a:ext cx="4023360" cy="3904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78992"/>
            <a:ext cx="4023360" cy="3840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7899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Support Assistant — Customer View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20240" y="1609344"/>
            <a:ext cx="2194560" cy="4114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0240" y="1609344"/>
            <a:ext cx="21945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dashboard isn't loading. It just spins.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2103120"/>
            <a:ext cx="2606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103120"/>
            <a:ext cx="26060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·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— are you on dashboard v2? Did this start after a recent login?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920240" y="2743200"/>
            <a:ext cx="2194560" cy="3200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20240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one. Yes, after I logged in today.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3145536"/>
            <a:ext cx="3840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3145536"/>
            <a:ext cx="384048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23697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· </a:t>
            </a:r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 match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Found it! Session token issue after forced re-auth.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3566160"/>
            <a:ext cx="3657600" cy="59436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59359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Fix (2 steps, ~1 min):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5488" y="37764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Clear browser cache &amp; cookies for this domain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Log out → log back in via incognito to test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4224528"/>
            <a:ext cx="1325880" cy="3200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22452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this fix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874520" y="4224528"/>
            <a:ext cx="13258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74520" y="422452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broken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1078992"/>
            <a:ext cx="4343400" cy="3904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1078992"/>
            <a:ext cx="4343400" cy="38404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107899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Approval Queue — 3 Pending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1572768"/>
            <a:ext cx="416052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1572768"/>
            <a:ext cx="416052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36592" y="1664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#4821 — Dashboard spin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589520" y="1664208"/>
            <a:ext cx="1097280" cy="256032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0" y="16642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 match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36592" y="19842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Matched: KB-302 · Session token expiry · Type 2 Known Issue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36592" y="22677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Proposed Steps: 1. Clear cache  ·  2. Re-auth via incognito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36592" y="2606040"/>
            <a:ext cx="1188720" cy="31089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36592" y="260604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16752" y="2606040"/>
            <a:ext cx="10058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16752" y="260604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114032" y="2606040"/>
            <a:ext cx="1005840" cy="310896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14032" y="260604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63440" y="3611880"/>
            <a:ext cx="416052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3611880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 12 auto-resolved  ·  3 pending  ·  1 escalated  ·  80% deflection rate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663440" y="4297680"/>
            <a:ext cx="416052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4297680"/>
            <a:ext cx="41605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Auto-close rules: Type 3 + ≥90% → closes after confirm  ·  Type 2 + ≥85% → CS required  ·  Type 1 / &lt;75% → Eng queue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Build, When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8595360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" y="1444752"/>
            <a:ext cx="329184" cy="329184"/>
          </a:xfrm>
          <a:prstGeom prst="ellipse">
            <a:avLst/>
          </a:prstGeom>
          <a:solidFill>
            <a:srgbClr val="64748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444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901952"/>
            <a:ext cx="2011680" cy="3035808"/>
          </a:xfrm>
          <a:prstGeom prst="rect">
            <a:avLst/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901952"/>
            <a:ext cx="2011680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933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1–4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2128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0: Foundation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4048" y="2651760"/>
            <a:ext cx="109728" cy="10972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243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matrix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2999232"/>
            <a:ext cx="109728" cy="10972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971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schema design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4048" y="3346704"/>
            <a:ext cx="109728" cy="10972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192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model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4048" y="3694176"/>
            <a:ext cx="109728" cy="10972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6667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team training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160520"/>
            <a:ext cx="182880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1879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437083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has ≥100 entries covering top issues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91840" y="1444752"/>
            <a:ext cx="329184" cy="329184"/>
          </a:xfrm>
          <a:prstGeom prst="ellipse">
            <a:avLst/>
          </a:prstGeom>
          <a:solidFill>
            <a:srgbClr val="4F46E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1444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450592" y="1901952"/>
            <a:ext cx="2011680" cy="3035808"/>
          </a:xfrm>
          <a:prstGeom prst="rect">
            <a:avLst/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450592" y="1901952"/>
            <a:ext cx="2011680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42032" y="19933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542032" y="22128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MVP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560320" y="2651760"/>
            <a:ext cx="109728" cy="10972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24912" y="26243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intake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60320" y="2999232"/>
            <a:ext cx="109728" cy="10972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24912" y="2971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classifier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560320" y="3346704"/>
            <a:ext cx="109728" cy="10972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24912" y="33192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3 auto-resolve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560320" y="3694176"/>
            <a:ext cx="109728" cy="10972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24912" y="36667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2 KB match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542032" y="4160520"/>
            <a:ext cx="1828800" cy="658368"/>
          </a:xfrm>
          <a:prstGeom prst="rect">
            <a:avLst/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87752" y="41879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587752" y="437083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Deflection rate ≥25% after 30 days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468112" y="1444752"/>
            <a:ext cx="329184" cy="329184"/>
          </a:xfrm>
          <a:prstGeom prst="ellipse">
            <a:avLst/>
          </a:prstGeom>
          <a:solidFill>
            <a:srgbClr val="0891B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68112" y="1444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626864" y="1901952"/>
            <a:ext cx="2011680" cy="3035808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26864" y="1901952"/>
            <a:ext cx="201168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18304" y="19933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4–6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718304" y="22128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Approval Queue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4736592" y="265176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01184" y="26243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approval UI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736592" y="2999232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01184" y="2971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1 draft proposals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736592" y="3346704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01184" y="33192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routing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736592" y="3694176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01184" y="36667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escalation context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718304" y="4160520"/>
            <a:ext cx="1828800" cy="658368"/>
          </a:xfrm>
          <a:prstGeom prst="rect">
            <a:avLst/>
          </a:prstGeom>
          <a:solidFill>
            <a:srgbClr val="E0F7F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64024" y="41879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764024" y="437083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approval SLA &lt;30 min; accuracy ≥80%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644384" y="1444752"/>
            <a:ext cx="329184" cy="329184"/>
          </a:xfrm>
          <a:prstGeom prst="ellipse">
            <a:avLst/>
          </a:prstGeom>
          <a:solidFill>
            <a:srgbClr val="7C3AE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644384" y="1444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803136" y="1901952"/>
            <a:ext cx="2011680" cy="3035808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803136" y="1901952"/>
            <a:ext cx="201168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94576" y="19933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7–9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894576" y="22128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Learning Loop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6912864" y="2651760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077456" y="26243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signals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912864" y="2999232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077456" y="2971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auto-update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912864" y="3346704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077456" y="33192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912864" y="3694176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077456" y="36667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automation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894576" y="4160520"/>
            <a:ext cx="1828800" cy="658368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940296" y="41879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6940296" y="437083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Deflection ≥55%; cost/ticket &lt;$12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Know It's Working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651760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2651760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21615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Deflection Rate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499616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closed w/o Eng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84048" y="1783080"/>
            <a:ext cx="243230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8653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719072" y="18653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20574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63040" y="205740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19072" y="20574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≥65%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182112" y="1097280"/>
            <a:ext cx="2651760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82112" y="1097280"/>
            <a:ext cx="26517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121615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Resolution Time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91840" y="1499616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2/3 issues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91840" y="1783080"/>
            <a:ext cx="243230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8653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26864" y="18653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91840" y="20574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days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370832" y="205740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626864" y="20574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hrs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089904" y="1097280"/>
            <a:ext cx="2651760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9904" y="1097280"/>
            <a:ext cx="265176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9632" y="121615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CSAT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99632" y="1499616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support interactions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99632" y="1783080"/>
            <a:ext cx="243230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99632" y="18653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534656" y="18653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199632" y="20574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278624" y="205740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534656" y="20574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≥78%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274320" y="3017520"/>
            <a:ext cx="2651760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3017520"/>
            <a:ext cx="265176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313639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Ticket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84048" y="3419856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loaded CS + Eng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84048" y="3703320"/>
            <a:ext cx="243230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" y="37856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719072" y="37856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84048" y="39776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1463040" y="397764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719072" y="39776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$8</a:t>
            </a:r>
            <a:endParaRPr lang="en-US" sz="2200" dirty="0"/>
          </a:p>
        </p:txBody>
      </p:sp>
      <p:sp>
        <p:nvSpPr>
          <p:cNvPr id="45" name="Shape 43"/>
          <p:cNvSpPr/>
          <p:nvPr/>
        </p:nvSpPr>
        <p:spPr>
          <a:xfrm>
            <a:off x="3182112" y="3017520"/>
            <a:ext cx="2651760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182112" y="3017520"/>
            <a:ext cx="265176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91840" y="313639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Tickets / Rep / Wk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3291840" y="3419856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freed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291840" y="3703320"/>
            <a:ext cx="243230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91840" y="37856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626864" y="37856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291840" y="39776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60–80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4370832" y="397764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4626864" y="39776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35</a:t>
            </a:r>
            <a:endParaRPr lang="en-US" sz="2200" dirty="0"/>
          </a:p>
        </p:txBody>
      </p:sp>
      <p:sp>
        <p:nvSpPr>
          <p:cNvPr id="55" name="Shape 53"/>
          <p:cNvSpPr/>
          <p:nvPr/>
        </p:nvSpPr>
        <p:spPr>
          <a:xfrm>
            <a:off x="6089904" y="3017520"/>
            <a:ext cx="2651760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089904" y="3017520"/>
            <a:ext cx="2651760" cy="64008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99632" y="313639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Accuracy Rate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199632" y="3419856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re-open in 7 days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199632" y="3703320"/>
            <a:ext cx="243230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99632" y="37856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534656" y="37856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199632" y="39776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2200" dirty="0"/>
          </a:p>
        </p:txBody>
      </p:sp>
      <p:sp>
        <p:nvSpPr>
          <p:cNvPr id="63" name="Text 61"/>
          <p:cNvSpPr/>
          <p:nvPr/>
        </p:nvSpPr>
        <p:spPr>
          <a:xfrm>
            <a:off x="7278624" y="397764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7534656" y="39776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≥90%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Decisions Before We Build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078992"/>
            <a:ext cx="2697480" cy="3904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78992"/>
            <a:ext cx="2697480" cy="41148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7899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—  Resolve Before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645920"/>
            <a:ext cx="2487168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645920"/>
            <a:ext cx="64008" cy="9601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645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" y="18288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the AI knowledge base operationally — CS Lead, dedicated KB manager, or rotating responsibility?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706624"/>
            <a:ext cx="2487168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706624"/>
            <a:ext cx="64008" cy="9601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27066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9768" y="288950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data residency and PII policy for storing customer conversations used in AI training?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767328"/>
            <a:ext cx="2487168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767328"/>
            <a:ext cx="64008" cy="9601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37673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9768" y="395020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ticketing system (Jira, Zendesk, Linear) is the system of record — and what does the integration look like?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54680" y="1078992"/>
            <a:ext cx="2697480" cy="3904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54680" y="1078992"/>
            <a:ext cx="2697480" cy="411480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107899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—  Resolve Before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46120" y="1645920"/>
            <a:ext cx="2487168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46120" y="1645920"/>
            <a:ext cx="64008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55848" y="1645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55848" y="18288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escalation SLA for Type 1 Eng tickets, and who owns SLA enforcement?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46120" y="2706624"/>
            <a:ext cx="2487168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46120" y="2706624"/>
            <a:ext cx="64008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55848" y="27066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55848" y="288950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customer experience live inside the product (in-app chat) or as a separate support portal?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46120" y="3767328"/>
            <a:ext cx="2487168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46120" y="3767328"/>
            <a:ext cx="64008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55848" y="37673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355848" y="395020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handle P1 incidents where multiple customers hit the same issue simultaneously?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80760" y="1078992"/>
            <a:ext cx="2697480" cy="3904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80760" y="1078992"/>
            <a:ext cx="2697480" cy="411480"/>
          </a:xfrm>
          <a:prstGeom prst="rect">
            <a:avLst/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72200" y="107899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—  Longer-Term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72200" y="1645920"/>
            <a:ext cx="2487168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72200" y="1645920"/>
            <a:ext cx="64008" cy="9601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81928" y="1645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281928" y="18288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what deflection rate does it make sense to redeploy CS toward proactive customer success?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172200" y="2706624"/>
            <a:ext cx="2487168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72200" y="2706624"/>
            <a:ext cx="64008" cy="9601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81928" y="27066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281928" y="288950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we publish real-time issue status publicly (like a status page) or keep it per-ticket?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172200" y="3767328"/>
            <a:ext cx="2487168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72200" y="3767328"/>
            <a:ext cx="64008" cy="9601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81928" y="37673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281928" y="395020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this system interact with churn prediction and product-led growth signals?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828800"/>
            <a:ext cx="6400800" cy="6400800"/>
          </a:xfrm>
          <a:prstGeom prst="ellipse">
            <a:avLst/>
          </a:prstGeom>
          <a:solidFill>
            <a:srgbClr val="4F46E5">
              <a:alpha val="12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1828800"/>
            <a:ext cx="4572000" cy="4572000"/>
          </a:xfrm>
          <a:prstGeom prst="ellipse">
            <a:avLst/>
          </a:prstGeom>
          <a:solidFill>
            <a:srgbClr val="0891B2">
              <a:alpha val="1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It.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2743200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bet: AI resolves 65%+ of tickets in under 2 hours, with zero loss of human control.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320040" cy="3200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971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78992" y="29718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on open questions (data residency, KB ownership, system of record)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429000"/>
            <a:ext cx="320040" cy="3200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429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78992" y="34290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sprint: Build KB schema + ownership matrix + seed 100 entries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886200"/>
            <a:ext cx="320040" cy="3200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886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78992" y="38862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go/no-go metrics for Phase 1 MVP before scoping begins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343400"/>
            <a:ext cx="320040" cy="3200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343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78992" y="43434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Phase 1 kickoff with CS Lead, PM, and Eng Lead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800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Internet Marketing   |   AI Ticket Auto-Resolution   |   June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Ticket Auto-Resolution System</dc:title>
  <dc:subject>PptxGenJS Presentation</dc:subject>
  <dc:creator>Milestone Internet Marketing</dc:creator>
  <cp:lastModifiedBy>Milestone Internet Marketing</cp:lastModifiedBy>
  <cp:revision>1</cp:revision>
  <dcterms:created xsi:type="dcterms:W3CDTF">2026-06-06T15:24:02Z</dcterms:created>
  <dcterms:modified xsi:type="dcterms:W3CDTF">2026-06-06T15:24:02Z</dcterms:modified>
</cp:coreProperties>
</file>